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02368" y="658368"/>
            <a:ext cx="1115568" cy="1115568"/>
          </a:xfrm>
          <a:prstGeom prst="ellipse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A6A6"/>
                </a:solidFill>
                <a:latin typeface="Aptos Display"/>
              </a:rPr>
              <a:t>25000</a:t>
            </a:r>
          </a:p>
        </p:txBody>
      </p:sp>
      <p:sp>
        <p:nvSpPr>
          <p:cNvPr id="4" name="Oval 3"/>
          <p:cNvSpPr/>
          <p:nvPr/>
        </p:nvSpPr>
        <p:spPr>
          <a:xfrm>
            <a:off x="10652760" y="1344168"/>
            <a:ext cx="713232" cy="71323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GQM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02920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A6C1D2"/>
                </a:solidFill>
                <a:latin typeface="Aptos"/>
              </a:rPr>
              <a:t>UNIVERSIDADE DE BRASÍLIA  ·  FGA  ·  FGA0315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78992"/>
            <a:ext cx="8503920" cy="1874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FFFFF"/>
                </a:solidFill>
                <a:latin typeface="Aptos Display"/>
              </a:rPr>
              <a:t>AVALIAÇÃO DA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FFFFF"/>
                </a:solidFill>
                <a:latin typeface="Aptos Display"/>
              </a:rPr>
              <a:t>QUALIDADE DO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FFFFF"/>
                </a:solidFill>
                <a:latin typeface="Aptos Display"/>
              </a:rPr>
              <a:t> i-EDUCAR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90672"/>
            <a:ext cx="8686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D5E4EC"/>
                </a:solidFill>
                <a:latin typeface="Aptos"/>
              </a:rPr>
              <a:t>Estudo dos módulos de matrícula e lançamento de notas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D5E4EC"/>
                </a:solidFill>
                <a:latin typeface="Aptos"/>
              </a:rPr>
              <a:t>sob a família ISO/IEC 25000 — SQuaRE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041648"/>
            <a:ext cx="3246120" cy="384048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114800"/>
            <a:ext cx="2999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PONTO DE CONTROLE 1  ·  2026.2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718304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CCFCB"/>
                </a:solidFill>
                <a:latin typeface="Aptos"/>
              </a:rPr>
              <a:t>Equipe Grace Hopper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047488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Arthur Soares Parente  ·  Fábio Santos Araujo  ·  Gabriel Barbaceli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Gustavo Silva Rodrigues  ·  Ítalo Alves Sampaio de Oliveira  ·  Ricardo Lucas Winchello Vieira Branco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053328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6C1D2"/>
                </a:solidFill>
                <a:latin typeface="Aptos"/>
              </a:rPr>
              <a:t>Produto avaliado: portabilis/i-educar  ·  branch 2.12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6C1D2"/>
                </a:solidFill>
                <a:latin typeface="Aptos"/>
              </a:rPr>
              <a:t>Documentação da equipe: fcte-qualidade-de-software-1.github.io/2026-2_T02_GRACE_HOPPER/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01 · ACOMPANHAMENTO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0243A"/>
                </a:solidFill>
                <a:latin typeface="Aptos Display"/>
              </a:rPr>
              <a:t>Onde estamos no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7084"/>
                </a:solidFill>
                <a:latin typeface="Aptos"/>
              </a:rPr>
              <a:t>O PC1 consolida requisitos e especificação; a coleta experimental vem depois.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837944"/>
            <a:ext cx="475488" cy="47548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M0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847088"/>
            <a:ext cx="2496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Setup e governança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377440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CONCLUÍDO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61488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Issues, repositório e base da GitPage.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64208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1837944"/>
            <a:ext cx="475488" cy="475488"/>
          </a:xfrm>
          <a:prstGeom prst="ellipse">
            <a:avLst/>
          </a:prstGeom>
          <a:solidFill>
            <a:srgbClr val="3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M1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1847088"/>
            <a:ext cx="2496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Requisitos da avaliação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377440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C78A8"/>
                </a:solidFill>
                <a:latin typeface="Aptos"/>
              </a:rPr>
              <a:t>PC1 · FASE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61488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Propósito, interessados e escopo definidos.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1" y="1664208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94191" y="1837944"/>
            <a:ext cx="475488" cy="475488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M2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5" y="1847088"/>
            <a:ext cx="2496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Especificação GQM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5" y="2377440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E6A23C"/>
                </a:solidFill>
                <a:latin typeface="Aptos"/>
              </a:rPr>
              <a:t>EM ANDAMENTO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61488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Objetivos, métricas, limiares e gates.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648456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3822192"/>
            <a:ext cx="475488" cy="475488"/>
          </a:xfrm>
          <a:prstGeom prst="ellipse">
            <a:avLst/>
          </a:prstGeom>
          <a:solidFill>
            <a:srgbClr val="59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831336"/>
            <a:ext cx="2496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Projeto e protocolo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61688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597084"/>
                </a:solidFill>
                <a:latin typeface="Aptos"/>
              </a:rPr>
              <a:t>PLANEJADO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745736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Docker, instrumentos e plano de coleta.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648456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3822192"/>
            <a:ext cx="475488" cy="475488"/>
          </a:xfrm>
          <a:prstGeom prst="ellipse">
            <a:avLst/>
          </a:prstGeom>
          <a:solidFill>
            <a:srgbClr val="59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M4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3831336"/>
            <a:ext cx="2496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Artigo, slides e E1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4361688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597084"/>
                </a:solidFill>
                <a:latin typeface="Aptos"/>
              </a:rPr>
              <a:t>PLANEJADO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4745736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Artigo v1, GitPage e Release E1.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1" y="3648456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94191" y="3822192"/>
            <a:ext cx="475488" cy="475488"/>
          </a:xfrm>
          <a:prstGeom prst="ellipse">
            <a:avLst/>
          </a:prstGeom>
          <a:solidFill>
            <a:srgbClr val="59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M5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7695" y="3831336"/>
            <a:ext cx="2496312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Execução e julgamento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97695" y="4361688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597084"/>
                </a:solidFill>
                <a:latin typeface="Aptos"/>
              </a:rPr>
              <a:t>ENTREGA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745736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Dados, análise e parecer técnico final.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843016"/>
            <a:ext cx="11146536" cy="429768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952744"/>
            <a:ext cx="10771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Status reportado no planejamento: M0 concluído · M1 no PC1 · M2 em andamento · M3–M4 planejados · M5 futuro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9672"/>
            <a:ext cx="11173968" cy="10972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7084"/>
                </a:solidFill>
                <a:latin typeface="Aptos"/>
              </a:rPr>
              <a:t>Fonte: Relatório de Planejamento PC1, seção 1; Gestão do Projeto, milestones M0–M5.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6556248"/>
            <a:ext cx="9692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597084"/>
                </a:solidFill>
                <a:latin typeface="Apto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02 · 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0243A"/>
                </a:solidFill>
                <a:latin typeface="Aptos Display"/>
              </a:rPr>
              <a:t>O que avaliamos — e para quem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7084"/>
                </a:solidFill>
                <a:latin typeface="Aptos"/>
              </a:rPr>
              <a:t>Avaliação independente e diagnóstica do i-Educar 2.12; não é certificação nem homologação.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11082528" cy="1298448"/>
          </a:xfrm>
          <a:prstGeom prst="roundRect">
            <a:avLst>
              <a:gd name="adj" fmla="val 12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19656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8CCFCB"/>
                </a:solidFill>
                <a:latin typeface="Aptos"/>
              </a:rPr>
              <a:t>ARQUITETURA HÍBRIDA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308152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Laravel 13 + serviços e modelos modernos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121408"/>
            <a:ext cx="4754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A6A6"/>
                </a:solidFill>
                <a:latin typeface="Aptos"/>
              </a:rPr>
              <a:t>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176272"/>
            <a:ext cx="239572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Núcleo legado 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2864" y="2121408"/>
            <a:ext cx="4754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A6A6"/>
                </a:solidFill>
                <a:latin typeface="Aptos"/>
              </a:rPr>
              <a:t>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2176272"/>
            <a:ext cx="373075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PostgreSQL · pmieducar / modules / cadastro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82112"/>
            <a:ext cx="3493008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182112"/>
            <a:ext cx="68580" cy="129844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319272"/>
            <a:ext cx="31638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01 · Matrícula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3694176"/>
            <a:ext cx="3154679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3348"/>
                </a:solidFill>
                <a:latin typeface="Aptos"/>
              </a:rPr>
              <a:t>Vínculo escolar, enturmação e ciclo de vida do estudante.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182112"/>
            <a:ext cx="3493008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3182112"/>
            <a:ext cx="68580" cy="1298448"/>
          </a:xfrm>
          <a:prstGeom prst="rect">
            <a:avLst/>
          </a:prstGeom>
          <a:solidFill>
            <a:srgbClr val="3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3319272"/>
            <a:ext cx="31638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02 · Notas e menções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694176"/>
            <a:ext cx="3154679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3348"/>
                </a:solidFill>
                <a:latin typeface="Aptos"/>
              </a:rPr>
              <a:t>Diário eletrônico, regras pedagógicas e cálculo de médias.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5552" y="3182112"/>
            <a:ext cx="3803904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45552" y="3182112"/>
            <a:ext cx="68580" cy="1298448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3319272"/>
            <a:ext cx="3474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Partes interessadas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3694176"/>
            <a:ext cx="3465576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E3348"/>
                </a:solidFill>
                <a:latin typeface="Aptos"/>
              </a:rPr>
              <a:t>Secretarias e gestores · secretários e professores · integradores · mantenedores.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73168"/>
            <a:ext cx="11082528" cy="1243584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56048"/>
            <a:ext cx="2560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VALOR PÚBLICO E CONTEXTO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285232"/>
            <a:ext cx="1037844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3348"/>
                </a:solidFill>
                <a:latin typeface="Aptos"/>
              </a:rPr>
              <a:t>ODS 4 — educação de qualidade: registros apoiam a gestão escolar.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3348"/>
                </a:solidFill>
                <a:latin typeface="Aptos"/>
              </a:rPr>
              <a:t>ODS 16 — instituições eficazes: rastreabilidade e transparência administrativa.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3348"/>
                </a:solidFill>
                <a:latin typeface="Aptos"/>
              </a:rPr>
              <a:t>O estudo não mede aprendizagem, conclusão escolar nem impacto nos indicadores dos ODS.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9672"/>
            <a:ext cx="11173968" cy="10972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7084"/>
                </a:solidFill>
                <a:latin typeface="Aptos"/>
              </a:rPr>
              <a:t>Fontes: Visão Geral do Produto; Arquitetura e Contextualização Técnica; Relatório PC1, seção 2.1.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6556248"/>
            <a:ext cx="9692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597084"/>
                </a:solidFill>
                <a:latin typeface="Apto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03 · 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0243A"/>
                </a:solidFill>
                <a:latin typeface="Aptos Display"/>
              </a:rPr>
              <a:t>Recorte de qualidade e limites do estudo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7084"/>
                </a:solidFill>
                <a:latin typeface="Aptos"/>
              </a:rPr>
              <a:t>ISO/IEC 25010:2023 · ISO/IEC 25019:2023 · processo de avaliação ISO/IEC 25040:2024.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258775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865376"/>
            <a:ext cx="493776" cy="49377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83664"/>
            <a:ext cx="164592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Compatibilidade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51176"/>
            <a:ext cx="223113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Coexistência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API 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64208"/>
            <a:ext cx="258775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47872" y="1865376"/>
            <a:ext cx="493776" cy="493776"/>
          </a:xfrm>
          <a:prstGeom prst="ellipse">
            <a:avLst/>
          </a:prstGeom>
          <a:solidFill>
            <a:srgbClr val="3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1883664"/>
            <a:ext cx="164592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Confiabilidade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51176"/>
            <a:ext cx="223113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Cálculos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Transações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Recuperação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664208"/>
            <a:ext cx="258775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64224" y="1865376"/>
            <a:ext cx="493776" cy="493776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4" y="1883664"/>
            <a:ext cx="164592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Manutenibilidade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551176"/>
            <a:ext cx="223113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Complexidade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Acoplamento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Testabilidade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1664208"/>
            <a:ext cx="258775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80576" y="1865376"/>
            <a:ext cx="493776" cy="493776"/>
          </a:xfrm>
          <a:prstGeom prst="ellipse">
            <a:avLst/>
          </a:prstGeom>
          <a:solidFill>
            <a:srgbClr val="D96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4936" y="1883664"/>
            <a:ext cx="164592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Interação e uso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3" y="2551176"/>
            <a:ext cx="223113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Proteção contra erros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Mensagens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Eficiência e eficácia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557016"/>
            <a:ext cx="5440680" cy="1975104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76472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A6A6"/>
                </a:solidFill>
                <a:latin typeface="Aptos"/>
              </a:rPr>
              <a:t>DENTRO DO ESCOPO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169663"/>
            <a:ext cx="47548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• Matrícula e enturmação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• Diário e lançamento de notas/menções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• API REST do núcleo e coexistência em Docker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• Código dos módulos selecionados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3557016"/>
            <a:ext cx="5440680" cy="1975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776472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96C5F"/>
                </a:solidFill>
                <a:latin typeface="Aptos"/>
              </a:rPr>
              <a:t>FORA DO ESCOPO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169663"/>
            <a:ext cx="47548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• Segurança como característica avaliada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• Teste de estresse em escala de produção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• Educacenso e integrações com credenciais reais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• Pacotes de terceiros e outros módulos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897880"/>
            <a:ext cx="10881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Priorização: criticidade = impacto × risco; capacidade de interação é obrigatória na disciplina.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9672"/>
            <a:ext cx="11173968" cy="10972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7084"/>
                </a:solidFill>
                <a:latin typeface="Aptos"/>
              </a:rPr>
              <a:t>Fontes: Framework GQM v2.0, seção 1; Relatório PC1, seções 2.1.4–2.1.5.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56248"/>
            <a:ext cx="9692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597084"/>
                </a:solidFill>
                <a:latin typeface="Apto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04 · FASE 2 · GQM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0243A"/>
                </a:solidFill>
                <a:latin typeface="Aptos Display"/>
              </a:rPr>
              <a:t>Como a avaliação será medida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7084"/>
                </a:solidFill>
                <a:latin typeface="Aptos"/>
              </a:rPr>
              <a:t>GQM conecta objetivos → questões → métricas; resultados só serão produzidos na execução.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5413248" cy="4398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27632"/>
            <a:ext cx="5413248" cy="612648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01368"/>
            <a:ext cx="48646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G1 · COMPATIBILIDADE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95728"/>
            <a:ext cx="4800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597084"/>
                </a:solidFill>
                <a:latin typeface="Aptos"/>
              </a:rPr>
              <a:t>Perspectiva: integradores municipais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4700016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E3348"/>
                </a:solidFill>
                <a:latin typeface="Aptos"/>
              </a:rPr>
              <a:t>M1 · TINCR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E3348"/>
                </a:solidFill>
                <a:latin typeface="Aptos"/>
              </a:rPr>
              <a:t>Percentual de recursos de ambiente isoláveis por configuração.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E3348"/>
                </a:solidFill>
                <a:latin typeface="Aptos"/>
              </a:rPr>
              <a:t>Hipótese de referência: ≥ 85%.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895344"/>
            <a:ext cx="4846320" cy="10972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4700016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E3348"/>
                </a:solidFill>
                <a:latin typeface="Aptos"/>
              </a:rPr>
              <a:t>M2 · CEI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E3348"/>
                </a:solidFill>
                <a:latin typeface="Aptos"/>
              </a:rPr>
              <a:t>Percentual de endpoints conformes ao contrato JSON da API.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E3348"/>
                </a:solidFill>
                <a:latin typeface="Aptos"/>
              </a:rPr>
              <a:t>Hipótese de referência: ≥ 85%.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04104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Método: inventário Docker + coleção de API / JSON Schema.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27632"/>
            <a:ext cx="5440680" cy="4398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08776" y="1627632"/>
            <a:ext cx="5440680" cy="612648"/>
          </a:xfrm>
          <a:prstGeom prst="roundRect">
            <a:avLst>
              <a:gd name="adj" fmla="val 12000"/>
            </a:avLst>
          </a:prstGeom>
          <a:solidFill>
            <a:srgbClr val="3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01368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G2 · CONFIABILIDADE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95728"/>
            <a:ext cx="4800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597084"/>
                </a:solidFill>
                <a:latin typeface="Aptos"/>
              </a:rPr>
              <a:t>Perspectiva: gestão escolar e engenharia de testes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807208"/>
            <a:ext cx="4645152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M3 · DCNM  [GATE]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Cálculo determinístico de médias e menções.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575304"/>
            <a:ext cx="4645152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M4 · ITAE  [GATE]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E3348"/>
                </a:solidFill>
                <a:latin typeface="Aptos"/>
              </a:rPr>
              <a:t>Atomicidade e rollback em operações compostas.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315968"/>
            <a:ext cx="4681728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E3348"/>
                </a:solidFill>
                <a:latin typeface="Aptos"/>
              </a:rPr>
              <a:t>M5 · DDOM | Produção, 90 dias: incidentes confirmados ÷ movimentações concluídas × 1.000.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E3348"/>
                </a:solidFill>
                <a:latin typeface="Aptos"/>
              </a:rPr>
              <a:t>M6 · CVPB | Restaurações bem-sucedidas ÷ planejadas × 100%; validar pmieducar, modules e cadastro.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64808" y="5330952"/>
            <a:ext cx="4700016" cy="438912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431536"/>
            <a:ext cx="446227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0243A"/>
                </a:solidFill>
                <a:latin typeface="Aptos"/>
              </a:rPr>
              <a:t>Gates eliminatórios: M3, M4 e M12 devem passar integralmente.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9672"/>
            <a:ext cx="11173968" cy="10972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7084"/>
                </a:solidFill>
                <a:latin typeface="Aptos"/>
              </a:rPr>
              <a:t>Fonte: Framework GQM v2.0, objetivos G1–G2 e métricas M1–M6; hipóteses ainda não verificadas.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6556248"/>
            <a:ext cx="9692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597084"/>
                </a:solidFill>
                <a:latin typeface="Apto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05 · FASE 2 · GQM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0243A"/>
                </a:solidFill>
                <a:latin typeface="Aptos Display"/>
              </a:rPr>
              <a:t>Como a avaliação será medida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7084"/>
                </a:solidFill>
                <a:latin typeface="Aptos"/>
              </a:rPr>
              <a:t>Métricas técnicas e tarefas de uso conectam código, interface e experiência operacional.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36776"/>
            <a:ext cx="5422392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6A23C"/>
                </a:solidFill>
                <a:latin typeface="Aptos"/>
              </a:rPr>
              <a:t>G3 · MANUTENIBILIDADE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368296"/>
            <a:ext cx="4791456" cy="2148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E3348"/>
                </a:solidFill>
                <a:latin typeface="Aptos"/>
              </a:rPr>
              <a:t>M7a/b · CC: P90 e máximo de v(G) por método/função.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E3348"/>
                </a:solidFill>
                <a:latin typeface="Aptos"/>
              </a:rPr>
              <a:t>M8 · DSPM: média de |A + I - 1| por componente.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E3348"/>
                </a:solidFill>
                <a:latin typeface="Aptos"/>
              </a:rPr>
              <a:t>M9 · IFDL: média de adaptadores defensivos por modelo.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E3348"/>
                </a:solidFill>
                <a:latin typeface="Aptos"/>
              </a:rPr>
              <a:t>M10 · MI: média normalizada por método (0 a 100).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E3348"/>
                </a:solidFill>
                <a:latin typeface="Aptos"/>
              </a:rPr>
              <a:t>M11 · TTAE: testes ativos com asserção ÷ casos declarados × 100%.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4416552"/>
            <a:ext cx="4809744" cy="393192"/>
          </a:xfrm>
          <a:prstGeom prst="roundRect">
            <a:avLst>
              <a:gd name="adj" fmla="val 12000"/>
            </a:avLst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90288"/>
            <a:ext cx="45902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0243A"/>
                </a:solidFill>
                <a:latin typeface="Aptos"/>
              </a:rPr>
              <a:t>Instrumentos planejados: SonarQube, PHPMetrics e script PHP da equipe.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636776"/>
            <a:ext cx="54406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D96C5F"/>
                </a:solidFill>
                <a:latin typeface="Aptos"/>
              </a:rPr>
              <a:t>G4 · INTERAÇÃO E QUALIDADE EM 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368296"/>
            <a:ext cx="4754880" cy="2057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 i="0">
                <a:solidFill>
                  <a:srgbClr val="1E3348"/>
                </a:solidFill>
                <a:latin typeface="Aptos"/>
              </a:rPr>
              <a:t>M12 · IPPE [GATE]: cenários inválidos bloqueados com segurança ÷ cenários submetidos × 100%.</a:t>
            </a:r>
          </a:p>
          <a:p>
            <a:pPr algn="l">
              <a:spcAft>
                <a:spcPts val="200"/>
              </a:spcAft>
            </a:pPr>
            <a:r>
              <a:rPr sz="1019" b="0" i="0">
                <a:solidFill>
                  <a:srgbClr val="1E3348"/>
                </a:solidFill>
                <a:latin typeface="Aptos"/>
              </a:rPr>
              <a:t>M13 · ADMV: mensagens com causa e ação corretiva ÷ mensagens avaliadas × 100%.</a:t>
            </a:r>
          </a:p>
          <a:p>
            <a:pPr algn="l">
              <a:spcAft>
                <a:spcPts val="200"/>
              </a:spcAft>
            </a:pPr>
            <a:r>
              <a:rPr sz="1019" b="0" i="0">
                <a:solidFill>
                  <a:srgbClr val="1E3348"/>
                </a:solidFill>
                <a:latin typeface="Aptos"/>
              </a:rPr>
              <a:t>M14a/b · TMET: média em minutos por tarefa; comparar à referência treinada.</a:t>
            </a:r>
          </a:p>
          <a:p>
            <a:pPr algn="l">
              <a:spcAft>
                <a:spcPts val="200"/>
              </a:spcAft>
            </a:pPr>
            <a:r>
              <a:rPr sz="1019" b="0" i="0">
                <a:solidFill>
                  <a:srgbClr val="1E3348"/>
                </a:solidFill>
                <a:latin typeface="Aptos"/>
              </a:rPr>
              <a:t>M15 · TSPT: execuções corretas na 1ª submissão ÷ execuções totais × 100%.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5664" y="3950208"/>
            <a:ext cx="4818888" cy="795528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526280"/>
            <a:ext cx="45720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T1 · matricular e enturmar 1 estudante</a:t>
            </a:r>
          </a:p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T2 · lançar notas para 10 estudantes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276088"/>
            <a:ext cx="11082528" cy="804672"/>
          </a:xfrm>
          <a:prstGeom prst="roundRect">
            <a:avLst>
              <a:gd name="adj" fmla="val 12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468112"/>
            <a:ext cx="15087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8CCFCB"/>
                </a:solidFill>
                <a:latin typeface="Aptos"/>
              </a:rPr>
              <a:t>PROTOCOLO ÉTICO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5458968"/>
            <a:ext cx="88239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Mínimo de 5 voluntários · TCLE · dados fictícios · códigos anônimos · gravação facultativa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9436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7084"/>
                </a:solidFill>
                <a:latin typeface="Aptos"/>
              </a:rPr>
              <a:t>M11 mede atividade com asserção; eficácia exige análise de mutação separada. M14 usa a média de três execuções treinadas como referência.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9672"/>
            <a:ext cx="11173968" cy="10972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7084"/>
                </a:solidFill>
                <a:latin typeface="Aptos"/>
              </a:rPr>
              <a:t>Fontes: Framework GQM v2.0, objetivos G3–G4; TCLE; Relatório PC1, seção 2.3.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556248"/>
            <a:ext cx="9692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597084"/>
                </a:solidFill>
                <a:latin typeface="Apto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06 · GESTÃO PSM/CID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0243A"/>
                </a:solidFill>
                <a:latin typeface="Aptos Display"/>
              </a:rPr>
              <a:t>Equipe, papéis e esforço registrado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7084"/>
                </a:solidFill>
                <a:latin typeface="Aptos"/>
              </a:rPr>
              <a:t>Alocação equilibrada no Ponto de Controle 1, conforme tabela de contribuição do projeto.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73352"/>
            <a:ext cx="3502152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1874520"/>
            <a:ext cx="393192" cy="3931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268833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Arthur Soares Parente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2240280"/>
            <a:ext cx="26883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7084"/>
                </a:solidFill>
                <a:latin typeface="Aptos"/>
              </a:rPr>
              <a:t>Configuração e GitPage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514600"/>
            <a:ext cx="2578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12 h  ·  R$ 600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73352"/>
            <a:ext cx="3502152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1874520"/>
            <a:ext cx="393192" cy="393192"/>
          </a:xfrm>
          <a:prstGeom prst="ellipse">
            <a:avLst/>
          </a:prstGeom>
          <a:solidFill>
            <a:srgbClr val="3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1828800"/>
            <a:ext cx="268833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Fábio Santos Araujo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2240280"/>
            <a:ext cx="26883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7084"/>
                </a:solidFill>
                <a:latin typeface="Aptos"/>
              </a:rPr>
              <a:t>Redação do artigo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2514600"/>
            <a:ext cx="2578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12 h  ·  R$ 600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1" y="1673352"/>
            <a:ext cx="3502152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6759" y="1874520"/>
            <a:ext cx="393192" cy="393192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828800"/>
            <a:ext cx="268833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Gabriel Barbaceli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7" y="2240280"/>
            <a:ext cx="26883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7084"/>
                </a:solidFill>
                <a:latin typeface="Aptos"/>
              </a:rPr>
              <a:t>GitPage e GQM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7" y="2514600"/>
            <a:ext cx="2578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12 h  ·  R$ 600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81528"/>
            <a:ext cx="3502152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3282696"/>
            <a:ext cx="393192" cy="393192"/>
          </a:xfrm>
          <a:prstGeom prst="ellipse">
            <a:avLst/>
          </a:prstGeom>
          <a:solidFill>
            <a:srgbClr val="D96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236976"/>
            <a:ext cx="268833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Gustavo Silva Rodrigues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3648456"/>
            <a:ext cx="26883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7084"/>
                </a:solidFill>
                <a:latin typeface="Aptos"/>
              </a:rPr>
              <a:t>Modelo ISO e escopo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3922776"/>
            <a:ext cx="2578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12 h  ·  R$ 600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081528"/>
            <a:ext cx="3502152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44568" y="3282696"/>
            <a:ext cx="393192" cy="3931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1" y="3236976"/>
            <a:ext cx="268833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Ítalo Alves Sampaio de Oliveira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3648456"/>
            <a:ext cx="26883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7084"/>
                </a:solidFill>
                <a:latin typeface="Aptos"/>
              </a:rPr>
              <a:t>Produto e stakeholders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65776" y="3922776"/>
            <a:ext cx="2578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12 h  ·  R$ 600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1" y="3081528"/>
            <a:ext cx="3502152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66759" y="3282696"/>
            <a:ext cx="393192" cy="393192"/>
          </a:xfrm>
          <a:prstGeom prst="ellipse">
            <a:avLst/>
          </a:prstGeom>
          <a:solidFill>
            <a:srgbClr val="3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78824" y="3236976"/>
            <a:ext cx="268833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Ricardo Lucas Winchello Vieira Branco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7" y="3648456"/>
            <a:ext cx="26883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7084"/>
                </a:solidFill>
                <a:latin typeface="Aptos"/>
              </a:rPr>
              <a:t>Redação do artigo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7" y="3922776"/>
            <a:ext cx="25786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12 h  ·  R$ 600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855464"/>
            <a:ext cx="11082528" cy="1069848"/>
          </a:xfrm>
          <a:prstGeom prst="roundRect">
            <a:avLst>
              <a:gd name="adj" fmla="val 12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084064"/>
            <a:ext cx="2377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ptos Display"/>
              </a:rPr>
              <a:t>72 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522976"/>
            <a:ext cx="2377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A6C1D2"/>
                </a:solidFill>
                <a:latin typeface="Aptos"/>
              </a:rPr>
              <a:t>esforço 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79" y="5084064"/>
            <a:ext cx="2377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ptos Display"/>
              </a:rPr>
              <a:t>R$ 50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79" y="5522976"/>
            <a:ext cx="2377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A6C1D2"/>
                </a:solidFill>
                <a:latin typeface="Aptos"/>
              </a:rPr>
              <a:t>valor por hora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084064"/>
            <a:ext cx="2377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ptos Display"/>
              </a:rPr>
              <a:t>R$ 3.600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522976"/>
            <a:ext cx="2377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A6C1D2"/>
                </a:solidFill>
                <a:latin typeface="Aptos"/>
              </a:rPr>
              <a:t>custo acumulado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3144" y="5084064"/>
            <a:ext cx="2377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ptos Display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53144" y="5522976"/>
            <a:ext cx="2377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A6C1D2"/>
                </a:solidFill>
                <a:latin typeface="Aptos"/>
              </a:rPr>
              <a:t>esforço da equipe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519672"/>
            <a:ext cx="11173968" cy="10972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7084"/>
                </a:solidFill>
                <a:latin typeface="Aptos"/>
              </a:rPr>
              <a:t>Fontes: README e Gestão do Projeto, seção 3 (PSM/CID). Identificação acadêmica omitida.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6556248"/>
            <a:ext cx="9692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597084"/>
                </a:solidFill>
                <a:latin typeface="Aptos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07 · ENCAMINHAMENTOS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0243A"/>
                </a:solidFill>
                <a:latin typeface="Aptos Display"/>
              </a:rPr>
              <a:t>Do planejamento à evidência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7084"/>
                </a:solidFill>
                <a:latin typeface="Aptos"/>
              </a:rPr>
              <a:t>Próximos entregáveis do PC1 e caminho até o julgamento técnico.</a:t>
            </a:r>
          </a:p>
        </p:txBody>
      </p:sp>
      <p:sp>
        <p:nvSpPr>
          <p:cNvPr id="6" name="Oval 5"/>
          <p:cNvSpPr/>
          <p:nvPr/>
        </p:nvSpPr>
        <p:spPr>
          <a:xfrm>
            <a:off x="585216" y="1755648"/>
            <a:ext cx="512064" cy="51206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993392"/>
            <a:ext cx="1947672" cy="32004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2459736"/>
            <a:ext cx="2542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0243A"/>
                </a:solidFill>
                <a:latin typeface="Aptos"/>
              </a:rPr>
              <a:t>Validar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880360"/>
            <a:ext cx="2542032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3348"/>
                </a:solidFill>
                <a:latin typeface="Aptos"/>
              </a:rPr>
              <a:t>Conferir rastreabilidade GQM, critérios e limites do escopo.</a:t>
            </a:r>
          </a:p>
        </p:txBody>
      </p:sp>
      <p:sp>
        <p:nvSpPr>
          <p:cNvPr id="10" name="Oval 9"/>
          <p:cNvSpPr/>
          <p:nvPr/>
        </p:nvSpPr>
        <p:spPr>
          <a:xfrm>
            <a:off x="3401568" y="1755648"/>
            <a:ext cx="512064" cy="512064"/>
          </a:xfrm>
          <a:prstGeom prst="ellipse">
            <a:avLst/>
          </a:prstGeom>
          <a:solidFill>
            <a:srgbClr val="3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5072" y="1993392"/>
            <a:ext cx="1947672" cy="32004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2459736"/>
            <a:ext cx="2542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0243A"/>
                </a:solidFill>
                <a:latin typeface="Aptos"/>
              </a:rPr>
              <a:t>Preparar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880360"/>
            <a:ext cx="2542032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3348"/>
                </a:solidFill>
                <a:latin typeface="Aptos"/>
              </a:rPr>
              <a:t>Docker, SonarQube, coleção da API e protocolo TCLE.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1755648"/>
            <a:ext cx="512064" cy="512064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21424" y="1993392"/>
            <a:ext cx="1947672" cy="32004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459736"/>
            <a:ext cx="2542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0243A"/>
                </a:solidFill>
                <a:latin typeface="Aptos"/>
              </a:rPr>
              <a:t>Consolidar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80360"/>
            <a:ext cx="2542032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3348"/>
                </a:solidFill>
                <a:latin typeface="Aptos"/>
              </a:rPr>
              <a:t>Artigo v1, GitPage, contribuições e apresentação.</a:t>
            </a:r>
          </a:p>
        </p:txBody>
      </p:sp>
      <p:sp>
        <p:nvSpPr>
          <p:cNvPr id="18" name="Oval 17"/>
          <p:cNvSpPr/>
          <p:nvPr/>
        </p:nvSpPr>
        <p:spPr>
          <a:xfrm>
            <a:off x="9034272" y="1755648"/>
            <a:ext cx="512064" cy="512064"/>
          </a:xfrm>
          <a:prstGeom prst="ellipse">
            <a:avLst/>
          </a:prstGeom>
          <a:solidFill>
            <a:srgbClr val="D96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459736"/>
            <a:ext cx="2542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0243A"/>
                </a:solidFill>
                <a:latin typeface="Aptos"/>
              </a:rPr>
              <a:t>Publicar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2880360"/>
            <a:ext cx="2542032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3348"/>
                </a:solidFill>
                <a:latin typeface="Aptos"/>
              </a:rPr>
              <a:t>Fechar Release E1; depois executar Fases 4 e 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78224"/>
            <a:ext cx="11082528" cy="1536192"/>
          </a:xfrm>
          <a:prstGeom prst="roundRect">
            <a:avLst>
              <a:gd name="adj" fmla="val 12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297680"/>
            <a:ext cx="3886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8CCFCB"/>
                </a:solidFill>
                <a:latin typeface="Aptos"/>
              </a:rPr>
              <a:t>O QUE AINDA NÃO É CONHECIDO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672584"/>
            <a:ext cx="10387584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Nenhuma coleta experimental ou classificação final foi afirmada.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As hipóteses, pesos e limiares são critérios de planejamento — não resultados do i-Educar.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961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7084"/>
                </a:solidFill>
                <a:latin typeface="Aptos"/>
              </a:rPr>
              <a:t>Após a coleta: preservar evidências, calcular IQC/IQM e emitir parecer conforme os gates e critérios definidos.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9672"/>
            <a:ext cx="11173968" cy="10972"/>
          </a:xfrm>
          <a:prstGeom prst="rect">
            <a:avLst/>
          </a:prstGeom>
          <a:solidFill>
            <a:srgbClr val="D9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7084"/>
                </a:solidFill>
                <a:latin typeface="Aptos"/>
              </a:rPr>
              <a:t>Fontes: Relatório de Planejamento PC1, seção 4; Framework GQM v2.0, seções 5–6.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2760" y="6556248"/>
            <a:ext cx="9692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597084"/>
                </a:solidFill>
                <a:latin typeface="Aptos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da Qualidade do i-Educar — Ponto de Controle 1</dc:title>
  <dc:subject>Apresentação de 8 slides baseada na documentação do projeto</dc:subject>
  <dc:creator>Equipe Grace Hopper — FGA0315 / UnB</dc:creator>
  <cp:keywords>i-Educar, ISO/IEC 25000, SQuaRE, GQM, PC1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