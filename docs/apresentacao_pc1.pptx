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9abf4a7-6b6f-1951-0205-73c14afa04d9}">
          <p14:sldIdLst>
            <p14:sldId id="256"/>
          </p14:sldIdLst>
        </p14:section>
        <p14:section name="Acompanhamento" id="{acbc8806-1e80-7d69-e52d-0805804324d9}">
          <p14:sldIdLst>
            <p14:sldId id="257"/>
          </p14:sldIdLst>
        </p14:section>
        <p14:section name="Fase 1" id="{3861f3c0-5c4d-70cd-c2ab-545276e31c96}">
          <p14:sldIdLst>
            <p14:sldId id="258"/>
            <p14:sldId id="259"/>
          </p14:sldIdLst>
        </p14:section>
        <p14:section name="Fase 2" id="{93091850-19a4-2522-22c3-74a38ebdedf3}">
          <p14:sldIdLst>
            <p14:sldId id="260"/>
            <p14:sldId id="261"/>
            <p14:sldId id="262"/>
            <p14:sldId id="263"/>
          </p14:sldIdLst>
        </p14:section>
        <p14:section name="Gestão" id="{8847f2d4-2ca3-8ebd-48a0-0ed1fdd923ad}">
          <p14:sldIdLst>
            <p14:sldId id="264"/>
            <p14:sldId id="265"/>
          </p14:sldIdLst>
        </p14:section>
        <p14:section name="Encerramento" id="{7faaad63-7a82-d265-aa13-0eb0ac1650f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equipe, o produto avaliado (i-Educar 2.12) e o foco da Entrega 1: Fase 1 (requisitos) e Fase 2 (especificação) da ISO/IEC 25040, mais a gestão do projeto com PSM/CID.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marcos da Entrega 1 foram fechados. O próximo é o M5, da Entrega 2, em que os dados serão coletados e o i-Educar será julgado.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Objeto: os dois módulos centrais do i-Educar. Quem usa o resultado: secretarias, escolas, integradores e mantenedores. Os ODS entram como contexto, sem medir impacto educacional.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matriz de criticidade explica por que essas quatro características. Segurança tem criticidade alta mas baixa viabilidade de medição no nosso ambiente, por isso ficou de fora. Capacidade de interação é obrigatória.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Professora pediu o diagrama do GQM: aqui estão os três níveis. Objetivo (o que queremos saber), questões (como perguntamos, cada uma com hipótese) e métricas (o que medimos). Na GitPage cada objetivo tem seu diagrama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Atendendo ao retorno do PC1: todas as questões agora têm hipótese explícita. Destacar a H2.2, que prevê falha no gate M4 — é refutável, não é um critério que sempre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Manutenibilidade usa análise estática do código; Interação e uso combina testes na interface com sessões de voluntários iniciantes.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Julgamento em três passos. Importante: se uma métrica gradual não puder ser medida, o IQM fica não calculável; não damos nota zero nem média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Atendendo ao retorno do PC1: objetivo de medição da gestão e métricas PSM coletadas direto do GitHub (issues, milestones, PRs e Actions), visíveis no Kanban. Ser honesto sobre as limitações do ACM e do VEC.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com 12 horas planejadas a R$ 50/h. O percentual de esforço soma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reforçando que tudo apresentado é especificação. Os resultados chegam na Entrega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6C1D2"/>
                </a:solidFill>
              </a:rPr>
              <a:t>UNIVERSIDADE DE BRASÍLIA  ·  FCTE  ·  FGA0315 QUALIDADE DE SOFTWARE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Avaliação da qualidade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 i-Educar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974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E4EC"/>
                </a:solidFill>
              </a:rPr>
              <a:t>Módulos de matrícula e lançamento de notas sob a família ISO/IEC 25000 (SQuaRE): requisitos, especificação GQM e gestão do projeto</a:t>
            </a:r>
            <a:endParaRPr lang="en-US" sz="1800" dirty="0"/>
          </a:p>
        </p:txBody>
      </p:sp>
      <p:sp>
        <p:nvSpPr>
          <p:cNvPr id="5" name="badge"/>
          <p:cNvSpPr/>
          <p:nvPr/>
        </p:nvSpPr>
        <p:spPr>
          <a:xfrm>
            <a:off x="731520" y="3749040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749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ENTREGA 1 · FASES 1 E 2 · 2026.2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FCB"/>
                </a:solidFill>
              </a:rPr>
              <a:t>Equipe Grace Hopper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89204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Arthur Soares Parente  ·  Fábio Santos Araujo  ·  Gabriel Barbaceli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Gustavo Silva Rodrigues  ·  Ítalo Alves Sampaio de Oliveira  ·  Ricardo Lucas Winchello Vieira Branco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97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6C1D2"/>
                </a:solidFill>
              </a:rPr>
              <a:t>Produto avaliado: portabilis/i-educar · branch 2.12 · commit 7903a3e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6C1D2"/>
                </a:solidFill>
              </a:rPr>
              <a:t>Documentação da equipe: fcte-qualidade-de-software-1.github.io/2026-2_T02_GRACE_HOPPER</a:t>
            </a:r>
            <a:endParaRPr lang="en-US" sz="1100" dirty="0"/>
          </a:p>
        </p:txBody>
      </p:sp>
      <p:sp>
        <p:nvSpPr>
          <p:cNvPr id="10" name="badge 25000"/>
          <p:cNvSpPr/>
          <p:nvPr/>
        </p:nvSpPr>
        <p:spPr>
          <a:xfrm>
            <a:off x="9052560" y="1188720"/>
            <a:ext cx="1828800" cy="1828800"/>
          </a:xfrm>
          <a:prstGeom prst="ellipse">
            <a:avLst/>
          </a:prstGeom>
          <a:solidFill>
            <a:srgbClr val="183650"/>
          </a:solidFill>
          <a:ln w="12700">
            <a:solidFill>
              <a:srgbClr val="183650"/>
            </a:solidFill>
            <a:prstDash val="solid"/>
          </a:ln>
        </p:spPr>
      </p:sp>
      <p:sp>
        <p:nvSpPr>
          <p:cNvPr id="11" name="badge 25000 text"/>
          <p:cNvSpPr txBox="1"/>
          <p:nvPr/>
        </p:nvSpPr>
        <p:spPr>
          <a:xfrm>
            <a:off x="9052560" y="1188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ISO/IEC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25000</a:t>
            </a:r>
            <a:endParaRPr lang="en-US" sz="2000" dirty="0"/>
          </a:p>
        </p:txBody>
      </p:sp>
      <p:sp>
        <p:nvSpPr>
          <p:cNvPr id="12" name="badge GQM"/>
          <p:cNvSpPr/>
          <p:nvPr/>
        </p:nvSpPr>
        <p:spPr>
          <a:xfrm>
            <a:off x="10287000" y="251460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badge GQM text"/>
          <p:cNvSpPr txBox="1"/>
          <p:nvPr/>
        </p:nvSpPr>
        <p:spPr>
          <a:xfrm>
            <a:off x="10287000" y="251460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GQM</a:t>
            </a:r>
            <a:endParaRPr lang="en-US" sz="1800" dirty="0"/>
          </a:p>
        </p:txBody>
      </p:sp>
      <p:sp>
        <p:nvSpPr>
          <p:cNvPr id="14" name="badge PSM"/>
          <p:cNvSpPr/>
          <p:nvPr/>
        </p:nvSpPr>
        <p:spPr>
          <a:xfrm>
            <a:off x="9235440" y="3429000"/>
            <a:ext cx="1051560" cy="10515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badge PSM text"/>
          <p:cNvSpPr txBox="1"/>
          <p:nvPr/>
        </p:nvSpPr>
        <p:spPr>
          <a:xfrm>
            <a:off x="9235440" y="3429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PSM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01 · ACOMPANHAMENTO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Onde estamos no projeto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Os marcos M0 a M4 da Entrega 1 estão concluídos; a coleta de dados começa no M5.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Relatório PC1, Tabela 3; milestones M0–M5 do repositório da equipe.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02 / 11</a:t>
            </a:r>
            <a:endParaRPr lang="en-US" sz="1000" dirty="0"/>
          </a:p>
        </p:txBody>
      </p:sp>
      <p:sp>
        <p:nvSpPr>
          <p:cNvPr id="7" name="milestone M0"/>
          <p:cNvSpPr/>
          <p:nvPr/>
        </p:nvSpPr>
        <p:spPr>
          <a:xfrm>
            <a:off x="548640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8" name="circle M0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le M0 text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03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Setup e governança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CONCLUÍDO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852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Repositório, issues, milestones e base da GitPage.</a:t>
            </a:r>
            <a:endParaRPr lang="en-US" sz="1300" dirty="0"/>
          </a:p>
        </p:txBody>
      </p:sp>
      <p:sp>
        <p:nvSpPr>
          <p:cNvPr id="13" name="milestone M1"/>
          <p:cNvSpPr/>
          <p:nvPr/>
        </p:nvSpPr>
        <p:spPr>
          <a:xfrm>
            <a:off x="4297680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4" name="circle M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 M1 text"/>
          <p:cNvSpPr txBox="1"/>
          <p:nvPr/>
        </p:nvSpPr>
        <p:spPr>
          <a:xfrm>
            <a:off x="45720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2103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Requisitos da avaliação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CONCLUÍDO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852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Propósito, partes interessadas, modelo e escopo (Fase 1).</a:t>
            </a:r>
            <a:endParaRPr lang="en-US" sz="1300" dirty="0"/>
          </a:p>
        </p:txBody>
      </p:sp>
      <p:sp>
        <p:nvSpPr>
          <p:cNvPr id="19" name="milestone M2"/>
          <p:cNvSpPr/>
          <p:nvPr/>
        </p:nvSpPr>
        <p:spPr>
          <a:xfrm>
            <a:off x="8046720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0" name="circle M2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le M2 text"/>
          <p:cNvSpPr txBox="1"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103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Especificação GQM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4871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CONCLUÍDO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28529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Objetivos, questões, hipóteses, métricas e limiares (Fase 2).</a:t>
            </a:r>
            <a:endParaRPr lang="en-US" sz="1300" dirty="0"/>
          </a:p>
        </p:txBody>
      </p:sp>
      <p:sp>
        <p:nvSpPr>
          <p:cNvPr id="25" name="milestone M3"/>
          <p:cNvSpPr/>
          <p:nvPr/>
        </p:nvSpPr>
        <p:spPr>
          <a:xfrm>
            <a:off x="548640" y="37033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6" name="circle M3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circle M3 text"/>
          <p:cNvSpPr txBox="1"/>
          <p:nvPr/>
        </p:nvSpPr>
        <p:spPr>
          <a:xfrm>
            <a:off x="82296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64592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Projeto da avaliação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645920" y="43616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CONCLUÍDO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47274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Ambiente Docker, instrumentos e protocolo TCLE.</a:t>
            </a:r>
            <a:endParaRPr lang="en-US" sz="1300" dirty="0"/>
          </a:p>
        </p:txBody>
      </p:sp>
      <p:sp>
        <p:nvSpPr>
          <p:cNvPr id="31" name="milestone M4"/>
          <p:cNvSpPr/>
          <p:nvPr/>
        </p:nvSpPr>
        <p:spPr>
          <a:xfrm>
            <a:off x="4297680" y="37033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2" name="circle M4"/>
          <p:cNvSpPr/>
          <p:nvPr/>
        </p:nvSpPr>
        <p:spPr>
          <a:xfrm>
            <a:off x="4572000" y="3977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 M4 text"/>
          <p:cNvSpPr txBox="1"/>
          <p:nvPr/>
        </p:nvSpPr>
        <p:spPr>
          <a:xfrm>
            <a:off x="457200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Artigo, slides e Release E1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394960" y="43616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CONCLUÍDO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47274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Artigo v1, GitPage revisada e esta apresentação.</a:t>
            </a:r>
            <a:endParaRPr lang="en-US" sz="1300" dirty="0"/>
          </a:p>
        </p:txBody>
      </p:sp>
      <p:sp>
        <p:nvSpPr>
          <p:cNvPr id="37" name="milestone M5"/>
          <p:cNvSpPr/>
          <p:nvPr/>
        </p:nvSpPr>
        <p:spPr>
          <a:xfrm>
            <a:off x="8046720" y="3703320"/>
            <a:ext cx="35204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8" name="circle M5"/>
          <p:cNvSpPr/>
          <p:nvPr/>
        </p:nvSpPr>
        <p:spPr>
          <a:xfrm>
            <a:off x="8321040" y="39776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9" name="circle M5 text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Execução e julgamento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43616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PRÓXIMO · ENTREGA 2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321040" y="47274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Coleta, análise, IQC/IQM e parecer (Fase 4).</a:t>
            </a:r>
            <a:endParaRPr lang="en-US" sz="1300" dirty="0"/>
          </a:p>
        </p:txBody>
      </p:sp>
      <p:sp>
        <p:nvSpPr>
          <p:cNvPr id="43" name="tcm callout"/>
          <p:cNvSpPr/>
          <p:nvPr/>
        </p:nvSpPr>
        <p:spPr>
          <a:xfrm>
            <a:off x="548640" y="5669280"/>
            <a:ext cx="11018520" cy="54864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19 de 19 issues planejadas concluídas (TCM = 100%)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·  11 PRs integrados  ·  Fase 3 já planejada no M3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02 · FASE 1 · REQUISITOS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 que avaliamos e para quem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Avaliação independente e diagnóstica do i-Educar 2.12; não é certificação nem homologação.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Fontes: Visão Geral do Produto; Relatório PC1, seções 2.1.1 a 2.1.3 e 2.1.6.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03 / 11</a:t>
            </a:r>
            <a:endParaRPr lang="en-US" sz="1000" dirty="0"/>
          </a:p>
        </p:txBody>
      </p:sp>
      <p:sp>
        <p:nvSpPr>
          <p:cNvPr id="7" name="arquitetura"/>
          <p:cNvSpPr/>
          <p:nvPr/>
        </p:nvSpPr>
        <p:spPr>
          <a:xfrm>
            <a:off x="548640" y="1828800"/>
            <a:ext cx="11018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CCFCB"/>
                </a:solidFill>
              </a:rPr>
              <a:t>ARQUITETURA HÍBRIDA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(app/): serviços e modelos modernos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Núcleo legado PHP (ieducar/)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2286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↔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286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PostgreSQL: pmieducar, modules, cadastro</a:t>
            </a:r>
            <a:endParaRPr lang="en-US" sz="1500" dirty="0"/>
          </a:p>
        </p:txBody>
      </p:sp>
      <p:sp>
        <p:nvSpPr>
          <p:cNvPr id="14" name="card Módulo de Matrícula"/>
          <p:cNvSpPr/>
          <p:nvPr/>
        </p:nvSpPr>
        <p:spPr>
          <a:xfrm>
            <a:off x="548640" y="32004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5" name="dot 0"/>
          <p:cNvSpPr/>
          <p:nvPr/>
        </p:nvSpPr>
        <p:spPr>
          <a:xfrm>
            <a:off x="822960" y="34290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dot 0 text"/>
          <p:cNvSpPr txBox="1"/>
          <p:nvPr/>
        </p:nvSpPr>
        <p:spPr>
          <a:xfrm>
            <a:off x="82296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Módulo de Matrícula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840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Vínculo escolar, enturmação e ciclo de vida do estudante.</a:t>
            </a:r>
            <a:endParaRPr lang="en-US" sz="1300" dirty="0"/>
          </a:p>
        </p:txBody>
      </p:sp>
      <p:sp>
        <p:nvSpPr>
          <p:cNvPr id="19" name="card Módulo de Notas e Menções"/>
          <p:cNvSpPr/>
          <p:nvPr/>
        </p:nvSpPr>
        <p:spPr>
          <a:xfrm>
            <a:off x="4297680" y="32004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0" name="dot 1"/>
          <p:cNvSpPr/>
          <p:nvPr/>
        </p:nvSpPr>
        <p:spPr>
          <a:xfrm>
            <a:off x="4572000" y="342900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dot 1 text"/>
          <p:cNvSpPr txBox="1"/>
          <p:nvPr/>
        </p:nvSpPr>
        <p:spPr>
          <a:xfrm>
            <a:off x="457200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Módulo de Notas e Menções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3840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Diário eletrônico, regras de avaliação e cálculo de médias.</a:t>
            </a:r>
            <a:endParaRPr lang="en-US" sz="1300" dirty="0"/>
          </a:p>
        </p:txBody>
      </p:sp>
      <p:sp>
        <p:nvSpPr>
          <p:cNvPr id="24" name="card Partes interessadas"/>
          <p:cNvSpPr/>
          <p:nvPr/>
        </p:nvSpPr>
        <p:spPr>
          <a:xfrm>
            <a:off x="8046720" y="3200400"/>
            <a:ext cx="3520440" cy="150876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5" name="dot 2"/>
          <p:cNvSpPr/>
          <p:nvPr/>
        </p:nvSpPr>
        <p:spPr>
          <a:xfrm>
            <a:off x="8321040" y="342900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dot 2 text"/>
          <p:cNvSpPr txBox="1"/>
          <p:nvPr/>
        </p:nvSpPr>
        <p:spPr>
          <a:xfrm>
            <a:off x="8321040" y="3429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Partes interessadas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3840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Secretarias e gestores; secretários escolares e professores; integradores (TI municipal, INEP); mantenedores.</a:t>
            </a:r>
            <a:endParaRPr lang="en-US" sz="1300" dirty="0"/>
          </a:p>
        </p:txBody>
      </p:sp>
      <p:sp>
        <p:nvSpPr>
          <p:cNvPr id="29" name="ods"/>
          <p:cNvSpPr/>
          <p:nvPr/>
        </p:nvSpPr>
        <p:spPr>
          <a:xfrm>
            <a:off x="548640" y="4937760"/>
            <a:ext cx="11018520" cy="128016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6868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PROPÓSITO E VALOR PÚBLICO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Apoiar decisões de adoção, priorização de refatorações, integração e capacitação.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ODS 4 (educação de qualidade) e ODS 16 (instituições eficazes): vínculo indireto, por meio de registros escolares confiáveis.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O estudo não mede aprendizagem nem impacto nos indicadores dos ODS.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03 · FASE 1 · MODELO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Priorização das características e escopo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ISO/IEC 25010:2023 (produto) e ISO/IEC 25019:2023 (uso), no processo da ISO/IEC 25040:2024.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Relatório PC1, Tabela 2 e seção 2.1.5. Pesos 30/30/20/20 são decisão da equipe, não da ISO.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04 / 11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11480"/>
                <a:gridCol w="411480"/>
                <a:gridCol w="868680"/>
                <a:gridCol w="411480"/>
                <a:gridCol w="196596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= I×R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Manutenibilidade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Excluída (V &lt;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Adequação funcional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 menor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desempenho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Excluída (V &lt; 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Criticidade menor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Ausência de risco (safety)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Excluída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de interação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Obrigatória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806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Regra: as três de maior C com viabilidade V ≥ 3; empate decidido pela maior V.</a:t>
            </a:r>
            <a:endParaRPr lang="en-US" sz="1300" dirty="0"/>
          </a:p>
        </p:txBody>
      </p:sp>
      <p:sp>
        <p:nvSpPr>
          <p:cNvPr id="9" name="dentro"/>
          <p:cNvSpPr/>
          <p:nvPr/>
        </p:nvSpPr>
        <p:spPr>
          <a:xfrm>
            <a:off x="7818120" y="18288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accent6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09244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DENTRO DO ESCOPO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2860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Matrícula e enturmação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Diário e lançamento de notas/menções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API REST do núcleo e coexistência em Docker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Código dos módulos selecionados</a:t>
            </a:r>
            <a:endParaRPr lang="en-US" sz="1300" dirty="0"/>
          </a:p>
        </p:txBody>
      </p:sp>
      <p:sp>
        <p:nvSpPr>
          <p:cNvPr id="12" name="fora"/>
          <p:cNvSpPr/>
          <p:nvPr/>
        </p:nvSpPr>
        <p:spPr>
          <a:xfrm>
            <a:off x="7818120" y="411480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092440" y="4251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FORA DO ESCOPO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92440" y="45720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Segurança como característica avaliada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Estresse em escala de produção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Educacenso com credenciais reais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Relatórios (pacote separado) e outros módulos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04 · FASE 2 · GQM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GQM em três níveis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4 objetivos, 14 questões com hipóteses e 15 famílias de métricas (17 linhas operacionais).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Framework GQM, seção 2 (diagramas por objetivo). * = gate eliminatório.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05 / 11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NÍVEL CONCEITUAL · OBJETIVOS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1737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NÍVEL OPERACIONAL · QUESTÕES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17373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NÍVEL QUANTITATIVO · MÉTRICAS</a:t>
            </a:r>
            <a:endParaRPr lang="en-US" sz="1100" dirty="0"/>
          </a:p>
        </p:txBody>
      </p:sp>
      <p:sp>
        <p:nvSpPr>
          <p:cNvPr id="10" name="goal G1"/>
          <p:cNvSpPr/>
          <p:nvPr/>
        </p:nvSpPr>
        <p:spPr>
          <a:xfrm>
            <a:off x="548640" y="2103120"/>
            <a:ext cx="301752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103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G1 · Compatibilidade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Peso no IQM: 20%</a:t>
            </a:r>
            <a:endParaRPr lang="en-US" sz="1400" dirty="0"/>
          </a:p>
        </p:txBody>
      </p:sp>
      <p:sp>
        <p:nvSpPr>
          <p:cNvPr id="12" name="questions G1"/>
          <p:cNvSpPr/>
          <p:nvPr/>
        </p:nvSpPr>
        <p:spPr>
          <a:xfrm>
            <a:off x="4160520" y="2103120"/>
            <a:ext cx="361188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343400" y="21031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Q1.1 Isolamento de recursos no host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Q1.2 Contrato de dados da API</a:t>
            </a:r>
            <a:endParaRPr lang="en-US" sz="1200" dirty="0"/>
          </a:p>
        </p:txBody>
      </p:sp>
      <p:sp>
        <p:nvSpPr>
          <p:cNvPr id="14" name="metrics G1"/>
          <p:cNvSpPr/>
          <p:nvPr/>
        </p:nvSpPr>
        <p:spPr>
          <a:xfrm>
            <a:off x="8229600" y="2103120"/>
            <a:ext cx="33375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M1 TINCR · M2 CEI</a:t>
            </a:r>
            <a:endParaRPr lang="en-US" sz="1300" dirty="0"/>
          </a:p>
        </p:txBody>
      </p:sp>
      <p:sp>
        <p:nvSpPr>
          <p:cNvPr id="16" name="arrow G1 0"/>
          <p:cNvSpPr/>
          <p:nvPr/>
        </p:nvSpPr>
        <p:spPr>
          <a:xfrm>
            <a:off x="3611880" y="2560320"/>
            <a:ext cx="5029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arrow G1 1"/>
          <p:cNvSpPr/>
          <p:nvPr/>
        </p:nvSpPr>
        <p:spPr>
          <a:xfrm>
            <a:off x="7818120" y="2560320"/>
            <a:ext cx="3657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goal G2"/>
          <p:cNvSpPr/>
          <p:nvPr/>
        </p:nvSpPr>
        <p:spPr>
          <a:xfrm>
            <a:off x="548640" y="3154680"/>
            <a:ext cx="30175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1546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G2 · Confiabilidade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Peso no IQM: 30%</a:t>
            </a:r>
            <a:endParaRPr lang="en-US" sz="1400" dirty="0"/>
          </a:p>
        </p:txBody>
      </p:sp>
      <p:sp>
        <p:nvSpPr>
          <p:cNvPr id="20" name="questions G2"/>
          <p:cNvSpPr/>
          <p:nvPr/>
        </p:nvSpPr>
        <p:spPr>
          <a:xfrm>
            <a:off x="4160520" y="3154680"/>
            <a:ext cx="361188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43400" y="315468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Q2.1 Cálculo de notas determinístico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Q2.2 Rollback de operações compostas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Q2.3 Backup e recuperação</a:t>
            </a:r>
            <a:endParaRPr lang="en-US" sz="1200" dirty="0"/>
          </a:p>
        </p:txBody>
      </p:sp>
      <p:sp>
        <p:nvSpPr>
          <p:cNvPr id="22" name="metrics G2"/>
          <p:cNvSpPr/>
          <p:nvPr/>
        </p:nvSpPr>
        <p:spPr>
          <a:xfrm>
            <a:off x="8229600" y="3154680"/>
            <a:ext cx="33375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412480" y="31546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M3 DCNM* · M4 ITAE* · M5 DDOM · M6 CVPB</a:t>
            </a:r>
            <a:endParaRPr lang="en-US" sz="1300" dirty="0"/>
          </a:p>
        </p:txBody>
      </p:sp>
      <p:sp>
        <p:nvSpPr>
          <p:cNvPr id="24" name="arrow G2 0"/>
          <p:cNvSpPr/>
          <p:nvPr/>
        </p:nvSpPr>
        <p:spPr>
          <a:xfrm>
            <a:off x="3611880" y="3611880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5" name="arrow G2 1"/>
          <p:cNvSpPr/>
          <p:nvPr/>
        </p:nvSpPr>
        <p:spPr>
          <a:xfrm>
            <a:off x="7818120" y="3611880"/>
            <a:ext cx="36576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6" name="goal G3"/>
          <p:cNvSpPr/>
          <p:nvPr/>
        </p:nvSpPr>
        <p:spPr>
          <a:xfrm>
            <a:off x="548640" y="4206240"/>
            <a:ext cx="301752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2062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G3 · Manutenibilidade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Peso no IQM: 30%</a:t>
            </a:r>
            <a:endParaRPr lang="en-US" sz="1400" dirty="0"/>
          </a:p>
        </p:txBody>
      </p:sp>
      <p:sp>
        <p:nvSpPr>
          <p:cNvPr id="28" name="questions G3"/>
          <p:cNvSpPr/>
          <p:nvPr/>
        </p:nvSpPr>
        <p:spPr>
          <a:xfrm>
            <a:off x="4160520" y="4206240"/>
            <a:ext cx="361188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343400" y="420624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Q3.1 Complexidade · Q3.2 Acoplamento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Q3.3 Fricção legado-moderno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Q3.4 Índice global · Q3.5 Testes ativos</a:t>
            </a:r>
            <a:endParaRPr lang="en-US" sz="1200" dirty="0"/>
          </a:p>
        </p:txBody>
      </p:sp>
      <p:sp>
        <p:nvSpPr>
          <p:cNvPr id="30" name="metrics G3"/>
          <p:cNvSpPr/>
          <p:nvPr/>
        </p:nvSpPr>
        <p:spPr>
          <a:xfrm>
            <a:off x="8229600" y="4206240"/>
            <a:ext cx="33375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412480" y="420624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M7a/b CC · M8 DSPM · M9 IFDL · M10 MI · M11 TTAE</a:t>
            </a:r>
            <a:endParaRPr lang="en-US" sz="1300" dirty="0"/>
          </a:p>
        </p:txBody>
      </p:sp>
      <p:sp>
        <p:nvSpPr>
          <p:cNvPr id="32" name="arrow G3 0"/>
          <p:cNvSpPr/>
          <p:nvPr/>
        </p:nvSpPr>
        <p:spPr>
          <a:xfrm>
            <a:off x="3611880" y="4663440"/>
            <a:ext cx="502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arrow G3 1"/>
          <p:cNvSpPr/>
          <p:nvPr/>
        </p:nvSpPr>
        <p:spPr>
          <a:xfrm>
            <a:off x="7818120" y="4663440"/>
            <a:ext cx="36576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goal G4"/>
          <p:cNvSpPr/>
          <p:nvPr/>
        </p:nvSpPr>
        <p:spPr>
          <a:xfrm>
            <a:off x="548640" y="5257800"/>
            <a:ext cx="3017520" cy="91440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52578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G4 · Interação e uso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Peso no IQM: 20%</a:t>
            </a:r>
            <a:endParaRPr lang="en-US" sz="1400" dirty="0"/>
          </a:p>
        </p:txBody>
      </p:sp>
      <p:sp>
        <p:nvSpPr>
          <p:cNvPr id="36" name="questions G4"/>
          <p:cNvSpPr/>
          <p:nvPr/>
        </p:nvSpPr>
        <p:spPr>
          <a:xfrm>
            <a:off x="4160520" y="5257800"/>
            <a:ext cx="361188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343400" y="525780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Q4.1 Prevenção de erros · Q4.2 Mensagens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Q4.3 Tempo de tarefa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Q4.4 Acerto na 1ª tentativa</a:t>
            </a:r>
            <a:endParaRPr lang="en-US" sz="1200" dirty="0"/>
          </a:p>
        </p:txBody>
      </p:sp>
      <p:sp>
        <p:nvSpPr>
          <p:cNvPr id="38" name="metrics G4"/>
          <p:cNvSpPr/>
          <p:nvPr/>
        </p:nvSpPr>
        <p:spPr>
          <a:xfrm>
            <a:off x="8229600" y="5257800"/>
            <a:ext cx="3337560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412480" y="5257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M12 IPPE* · M13 ADMV · M14a/b tempo · M15 TSPT</a:t>
            </a:r>
            <a:endParaRPr lang="en-US" sz="1300" dirty="0"/>
          </a:p>
        </p:txBody>
      </p:sp>
      <p:sp>
        <p:nvSpPr>
          <p:cNvPr id="40" name="arrow G4 0"/>
          <p:cNvSpPr/>
          <p:nvPr/>
        </p:nvSpPr>
        <p:spPr>
          <a:xfrm>
            <a:off x="3611880" y="5715000"/>
            <a:ext cx="5029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41" name="arrow G4 1"/>
          <p:cNvSpPr/>
          <p:nvPr/>
        </p:nvSpPr>
        <p:spPr>
          <a:xfrm>
            <a:off x="7818120" y="5715000"/>
            <a:ext cx="36576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05 · FASE 2 · GQM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Questões e hipóteses: G1 e G2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Cada questão tem uma hipótese refutável e um critério objetivo de verificação.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Framework GQM, Tabelas H1 e H2. Hipótese confirmada ou refutada não equivale a aprovar ou reprovar a característica.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06 / 11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91840"/>
                <a:gridCol w="3977640"/>
                <a:gridCol w="23774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 e critério de verificação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Q1.1 Os recursos de ambiente podem ser isolados por configuração?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85% são parametrizáveis via .env; container_name fixo pode exigir ajuste.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TINCR ≥ 85%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Q1.2 A API segue um contrato de dados verificável?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85% dos endpoints seguem o contrato JSON; erros de rotas legadas fogem do padrão.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CEI ≥ 85%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Q2.1 O cálculo de notas e menções é 100% determinístico?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serviço de boletim calcula médias e menções com 100% de exatidão frente ao oráculo.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DCNM = 100% (gate)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Q2.2 Operações compostas fazem rollback integral?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menos uma operação que mescla código legado não faz rollback integral; M5 sem logs de produção.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ITAE &lt; 100% (gate)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DDOM: não mensurável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Q2.3 Backup e recuperação são confiáveis?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Pelo menos 95% das restaurações recuperam pmieducar, modules e cadastro.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 CVPB ≥ 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06 · FASE 2 · GQM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Questões e hipóteses: G3 e G4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Hipóteses de código vêm da inspeção do repositório; as de uso, das tarefas T1 e T2.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Framework GQM, Tabelas H3 e H4. T1: matricular e enturmar 1 estudante; T2: lançar notas de 10 estudantes.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07 / 11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91840"/>
                <a:gridCol w="3977640"/>
                <a:gridCol w="2377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 e critério de verificação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Manuteni-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Q3.1 Qual a complexidade ciclomática dos métodos?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Métodos legados elevam o P90 para 10–20 e o máximo para mais de 30.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M7a/b 10 &lt; P90 ≤ 20; máx &gt;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Q3.2 Os componentes são desacoplados e equilibrados?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Poucas interfaces e acoplamento direto: distância média entre 0,20 e 0,50.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M8 0,20 &lt; DSPM ≤ 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Q3.3 Qual o atrito entre camada legada e moderna?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modelos Legacy* têm de 1,0 a 2,5 adaptações defensivas em média.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M9 1,0 &lt; IFDL ≤ 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Q3.4 Qual o índice global de manutenibilidade?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Boa, puxada para baixo pelos métodos extensos do legado.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M10 60 ≤ MI &lt; 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Q3.5 Quantos testes ativos têm asserção?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marcados como skipped reduzem a taxa para 70–95%.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M11 70% ≤ TTAE &lt; 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row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Q4.1 O sistema impede erros de entrada?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Bloqueia 100% dos cenários inválidos sem gravar dado corrompido nem HTTP 500.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 IPPE = 100% (gate)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Q4.2 As mensagens indicam causa e ação?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80% e 90% das mensagens são autodescritivas.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M13 ADMV em [80%, 90%)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Q4.3 Quanto tempo um usuário novo leva?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Iniciantes levam de 1,5 a 2,5 vezes o tempo de referência em T1 e T2.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M14 1,5 &lt; R_tempo ≤ 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Q4.4 Acerta na primeira tentativa?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70% e 90% das execuções corretas na 1ª submissão.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M15 TSPT em [70%, 90%)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07 · FASE 2 E 3 · JULGAMENTO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Como o resultado será julgado e coletado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Gates eliminatórios primeiro; depois a nota ponderada por característica e o índice global.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Fontes: Framework GQM, seção 5; Relatório PC1, seção 2.3 (plano da Fase 3); TCLE.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08 / 11</a:t>
            </a:r>
            <a:endParaRPr lang="en-US" sz="1000" dirty="0"/>
          </a:p>
        </p:txBody>
      </p:sp>
      <p:sp>
        <p:nvSpPr>
          <p:cNvPr id="7" name="step 1"/>
          <p:cNvSpPr/>
          <p:nvPr/>
        </p:nvSpPr>
        <p:spPr>
          <a:xfrm>
            <a:off x="548640" y="1828800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8" name="stepc 1"/>
          <p:cNvSpPr/>
          <p:nvPr/>
        </p:nvSpPr>
        <p:spPr>
          <a:xfrm>
            <a:off x="777240" y="19842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tepc 1 text"/>
          <p:cNvSpPr txBox="1"/>
          <p:nvPr/>
        </p:nvSpPr>
        <p:spPr>
          <a:xfrm>
            <a:off x="77724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Gates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2585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M3, M4 e M12 precisam de 100%. Falhou um, classe C.</a:t>
            </a:r>
            <a:endParaRPr lang="en-US" sz="1300" dirty="0"/>
          </a:p>
        </p:txBody>
      </p:sp>
      <p:sp>
        <p:nvSpPr>
          <p:cNvPr id="12" name="step 2"/>
          <p:cNvSpPr/>
          <p:nvPr/>
        </p:nvSpPr>
        <p:spPr>
          <a:xfrm>
            <a:off x="548640" y="2852928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3" name="stepc 2"/>
          <p:cNvSpPr/>
          <p:nvPr/>
        </p:nvSpPr>
        <p:spPr>
          <a:xfrm>
            <a:off x="777240" y="3008376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c 2 text"/>
          <p:cNvSpPr txBox="1"/>
          <p:nvPr/>
        </p:nvSpPr>
        <p:spPr>
          <a:xfrm>
            <a:off x="777240" y="3008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29443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IQC por característica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32826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Média ponderada das notas S de 1 a 4 de cada métrica.</a:t>
            </a:r>
            <a:endParaRPr lang="en-US" sz="1300" dirty="0"/>
          </a:p>
        </p:txBody>
      </p:sp>
      <p:sp>
        <p:nvSpPr>
          <p:cNvPr id="17" name="step 3"/>
          <p:cNvSpPr/>
          <p:nvPr/>
        </p:nvSpPr>
        <p:spPr>
          <a:xfrm>
            <a:off x="548640" y="3877056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8" name="stepc 3"/>
          <p:cNvSpPr/>
          <p:nvPr/>
        </p:nvSpPr>
        <p:spPr>
          <a:xfrm>
            <a:off x="777240" y="40325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tepc 3 text"/>
          <p:cNvSpPr txBox="1"/>
          <p:nvPr/>
        </p:nvSpPr>
        <p:spPr>
          <a:xfrm>
            <a:off x="777240" y="4032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9684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IQM global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3068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0,30 Conf + 0,30 Manut + 0,20 Inter + 0,20 Comp</a:t>
            </a:r>
            <a:endParaRPr lang="en-US" sz="1300" dirty="0"/>
          </a:p>
        </p:txBody>
      </p:sp>
      <p:sp>
        <p:nvSpPr>
          <p:cNvPr id="22" name="class A"/>
          <p:cNvSpPr/>
          <p:nvPr/>
        </p:nvSpPr>
        <p:spPr>
          <a:xfrm>
            <a:off x="548640" y="4983480"/>
            <a:ext cx="18928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5800" y="5074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Classe A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40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IQM ≥ 3,25, todo IQC ≥ 3,0 e nenhuma nota 1</a:t>
            </a:r>
            <a:endParaRPr lang="en-US" sz="1200" dirty="0"/>
          </a:p>
        </p:txBody>
      </p:sp>
      <p:sp>
        <p:nvSpPr>
          <p:cNvPr id="25" name="class B"/>
          <p:cNvSpPr/>
          <p:nvPr/>
        </p:nvSpPr>
        <p:spPr>
          <a:xfrm>
            <a:off x="2587752" y="4983480"/>
            <a:ext cx="18928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2724912" y="5074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Classe B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2724912" y="5440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IQM ≥ 2,75 e todo IQC ≥ 2,5</a:t>
            </a:r>
            <a:endParaRPr lang="en-US" sz="1200" dirty="0"/>
          </a:p>
        </p:txBody>
      </p:sp>
      <p:sp>
        <p:nvSpPr>
          <p:cNvPr id="28" name="class C"/>
          <p:cNvSpPr/>
          <p:nvPr/>
        </p:nvSpPr>
        <p:spPr>
          <a:xfrm>
            <a:off x="4626864" y="4983480"/>
            <a:ext cx="1892808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764024" y="5074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Classe C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764024" y="5440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Gate falhou ou abaixo de B</a:t>
            </a:r>
            <a:endParaRPr lang="en-US" sz="1200" dirty="0"/>
          </a:p>
        </p:txBody>
      </p:sp>
      <p:sp>
        <p:nvSpPr>
          <p:cNvPr id="31" name="plano"/>
          <p:cNvSpPr/>
          <p:nvPr/>
        </p:nvSpPr>
        <p:spPr>
          <a:xfrm>
            <a:off x="6858000" y="1828800"/>
            <a:ext cx="4709160" cy="438912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132320" y="2011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CCFCB"/>
                </a:solidFill>
              </a:rPr>
              <a:t>PLANO DE COLETA (FASE 3)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37744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Ambiente Docker do i-Educar 2.12 com dados fictícios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API: coleção de requisições e JSON Schema (M1, M2)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Pest/PHPUnit com oráculo e injeção de exceção (M3, M4)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SonarQube, PHPMetrics e script PHP da equipe (M7 a M11)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Sessões T1 e T2 com ao menos 5 voluntários, TCLE e códigos anônimos (M14, M15)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M5 depende de logs de produção: sem eles, fica não mensurável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08 · GESTÃO DO PROJETO · PSM/CID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Indicadores de gestão da Entrega 1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Objetivo: acompanhar progresso, calendário, conformidade e esforço para replanejar a tempo da Entrega 2.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issues, milestones, PRs e GitHub Actions do repositório; Kanban: github.com/orgs/FCTE-Qualidade-de-Software-1/projects/34.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09 / 11</a:t>
            </a:r>
            <a:endParaRPr lang="en-US" sz="1000" dirty="0"/>
          </a:p>
        </p:txBody>
      </p:sp>
      <p:sp>
        <p:nvSpPr>
          <p:cNvPr id="7" name="kpi TCM"/>
          <p:cNvSpPr/>
          <p:nvPr/>
        </p:nvSpPr>
        <p:spPr>
          <a:xfrm>
            <a:off x="548640" y="182880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TCM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31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100%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246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Conclusão por milestone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6118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19/19 issues concluídas nos marcos M0 a M4.</a:t>
            </a:r>
            <a:endParaRPr lang="en-US" sz="1200" dirty="0"/>
          </a:p>
        </p:txBody>
      </p:sp>
      <p:sp>
        <p:nvSpPr>
          <p:cNvPr id="12" name="kpi TRCD"/>
          <p:cNvSpPr/>
          <p:nvPr/>
        </p:nvSpPr>
        <p:spPr>
          <a:xfrm>
            <a:off x="3337560" y="182880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566160" y="2011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2"/>
                </a:solidFill>
              </a:rPr>
              <a:t>TRCD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331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81,8%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246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Conformidade documental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6118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9/11 PRs com build estrito. #20 e #21 vieram antes do workflow; desde então, 9/9.</a:t>
            </a:r>
            <a:endParaRPr lang="en-US" sz="1200" dirty="0"/>
          </a:p>
        </p:txBody>
      </p:sp>
      <p:sp>
        <p:nvSpPr>
          <p:cNvPr id="17" name="kpi ACM"/>
          <p:cNvSpPr/>
          <p:nvPr/>
        </p:nvSpPr>
        <p:spPr>
          <a:xfrm>
            <a:off x="6126480" y="182880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55080" y="2011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ACM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331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n/c</a:t>
            </a:r>
            <a:endParaRPr lang="en-US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246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Aderência ao calendário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6118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Não calculável: os milestones não têm data-limite no GitHub.</a:t>
            </a:r>
            <a:endParaRPr lang="en-US" sz="1200" dirty="0"/>
          </a:p>
        </p:txBody>
      </p:sp>
      <p:sp>
        <p:nvSpPr>
          <p:cNvPr id="22" name="kpi VEC"/>
          <p:cNvSpPr/>
          <p:nvPr/>
        </p:nvSpPr>
        <p:spPr>
          <a:xfrm>
            <a:off x="8915400" y="182880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0" y="20116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4"/>
                </a:solidFill>
              </a:rPr>
              <a:t>VEC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3317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0%</a:t>
            </a:r>
            <a:endParaRPr lang="en-US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32461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Variação de esforço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6118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63h realizadas / 63h planejadas em 17 issues. Horas registradas iguais às estimadas.</a:t>
            </a:r>
            <a:endParaRPr lang="en-US" sz="1200" dirty="0"/>
          </a:p>
        </p:txBody>
      </p:sp>
      <p:sp>
        <p:nvSpPr>
          <p:cNvPr id="27" name="decisoes"/>
          <p:cNvSpPr/>
          <p:nvPr/>
        </p:nvSpPr>
        <p:spPr>
          <a:xfrm>
            <a:off x="548640" y="4983480"/>
            <a:ext cx="110185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6868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CCFCB"/>
                </a:solidFill>
              </a:rPr>
              <a:t>DECISÕES PARA A ENTREGA 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Cadastrar data-limite no M5 para medir o ACM  ·  manter o build estrito obrigatório em todo PR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Registrar as horas realmente gastas ao fechar cada issue, para o VEC refletir o desvio real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09 · GESTÃO DO PROJETO · CUSTOS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Equipe, papéis e esforço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Distribuição equilibrada das 72 horas planejadas para a Entrega 1.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Fonte: Relatório PC1, Tabela 4; Gestão do Projeto, seção 1.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 / 11</a:t>
            </a:r>
            <a:endParaRPr lang="en-US" sz="1000" dirty="0"/>
          </a:p>
        </p:txBody>
      </p:sp>
      <p:sp>
        <p:nvSpPr>
          <p:cNvPr id="7" name="member 1"/>
          <p:cNvSpPr/>
          <p:nvPr/>
        </p:nvSpPr>
        <p:spPr>
          <a:xfrm>
            <a:off x="54864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8" name="num 1"/>
          <p:cNvSpPr/>
          <p:nvPr/>
        </p:nvSpPr>
        <p:spPr>
          <a:xfrm>
            <a:off x="777240" y="21488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 1 text"/>
          <p:cNvSpPr txBox="1"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933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Arthur Soares Parente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Configuração e GitPage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432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13" name="member 2"/>
          <p:cNvSpPr/>
          <p:nvPr/>
        </p:nvSpPr>
        <p:spPr>
          <a:xfrm>
            <a:off x="429768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14" name="num 2"/>
          <p:cNvSpPr/>
          <p:nvPr/>
        </p:nvSpPr>
        <p:spPr>
          <a:xfrm>
            <a:off x="4526280" y="21488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 2 text"/>
          <p:cNvSpPr txBox="1"/>
          <p:nvPr/>
        </p:nvSpPr>
        <p:spPr>
          <a:xfrm>
            <a:off x="452628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19933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Fábio Santos Araujo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Redação do artigo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7432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19" name="member 3"/>
          <p:cNvSpPr/>
          <p:nvPr/>
        </p:nvSpPr>
        <p:spPr>
          <a:xfrm>
            <a:off x="8046720" y="182880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0" name="num 3"/>
          <p:cNvSpPr/>
          <p:nvPr/>
        </p:nvSpPr>
        <p:spPr>
          <a:xfrm>
            <a:off x="8275320" y="21488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num 3 text"/>
          <p:cNvSpPr txBox="1"/>
          <p:nvPr/>
        </p:nvSpPr>
        <p:spPr>
          <a:xfrm>
            <a:off x="827532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199339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Gabriel Barbaceli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GitPage e especificação GQM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432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25" name="member 4"/>
          <p:cNvSpPr/>
          <p:nvPr/>
        </p:nvSpPr>
        <p:spPr>
          <a:xfrm>
            <a:off x="54864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26" name="num 4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num 4 text"/>
          <p:cNvSpPr txBox="1"/>
          <p:nvPr/>
        </p:nvSpPr>
        <p:spPr>
          <a:xfrm>
            <a:off x="77724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3456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Gustavo Silva Rodrigues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508760" y="39684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Modelo ISO e escopo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4206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31" name="member 5"/>
          <p:cNvSpPr/>
          <p:nvPr/>
        </p:nvSpPr>
        <p:spPr>
          <a:xfrm>
            <a:off x="429768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2" name="num 5"/>
          <p:cNvSpPr/>
          <p:nvPr/>
        </p:nvSpPr>
        <p:spPr>
          <a:xfrm>
            <a:off x="452628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num 5 text"/>
          <p:cNvSpPr txBox="1"/>
          <p:nvPr/>
        </p:nvSpPr>
        <p:spPr>
          <a:xfrm>
            <a:off x="452628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3456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Ítalo Alves Sampaio de Oliveira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257800" y="39684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Produto e partes interessadas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57800" y="4206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37" name="member 6"/>
          <p:cNvSpPr/>
          <p:nvPr/>
        </p:nvSpPr>
        <p:spPr>
          <a:xfrm>
            <a:off x="8046720" y="3291840"/>
            <a:ext cx="35204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8" name="num 6"/>
          <p:cNvSpPr/>
          <p:nvPr/>
        </p:nvSpPr>
        <p:spPr>
          <a:xfrm>
            <a:off x="8275320" y="36118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num 6 text"/>
          <p:cNvSpPr txBox="1"/>
          <p:nvPr/>
        </p:nvSpPr>
        <p:spPr>
          <a:xfrm>
            <a:off x="827532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3456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Ricardo Lucas Winchello Vieira Branco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006840" y="39684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Revisão da GitPage e do artigo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006840" y="4206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12 h  ·  R$ 600  ·  16,7%</a:t>
            </a:r>
            <a:endParaRPr lang="en-US" sz="1200" dirty="0"/>
          </a:p>
        </p:txBody>
      </p:sp>
      <p:sp>
        <p:nvSpPr>
          <p:cNvPr id="43" name="totais"/>
          <p:cNvSpPr/>
          <p:nvPr/>
        </p:nvSpPr>
        <p:spPr>
          <a:xfrm>
            <a:off x="548640" y="4892040"/>
            <a:ext cx="1101852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548640" y="502920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72 h</a:t>
            </a:r>
            <a:endParaRPr lang="en-US" sz="3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71500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C1D2"/>
                </a:solidFill>
              </a:rPr>
              <a:t>esforço total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00984" y="502920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R$ 50</a:t>
            </a:r>
            <a:endParaRPr lang="en-US" sz="3200" dirty="0"/>
          </a:p>
        </p:txBody>
      </p:sp>
      <p:sp>
        <p:nvSpPr>
          <p:cNvPr id="47" name="Text 45"/>
          <p:cNvSpPr txBox="1"/>
          <p:nvPr/>
        </p:nvSpPr>
        <p:spPr>
          <a:xfrm>
            <a:off x="3300984" y="571500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C1D2"/>
                </a:solidFill>
              </a:rPr>
              <a:t>valor por hora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053328" y="502920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R$ 3.600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6053328" y="571500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C1D2"/>
                </a:solidFill>
              </a:rPr>
              <a:t>custo acumulado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805672" y="5029200"/>
            <a:ext cx="2752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100%</a:t>
            </a:r>
            <a:endParaRPr lang="en-US" sz="3200" dirty="0"/>
          </a:p>
        </p:txBody>
      </p:sp>
      <p:sp>
        <p:nvSpPr>
          <p:cNvPr id="51" name="Text 49"/>
          <p:cNvSpPr txBox="1"/>
          <p:nvPr/>
        </p:nvSpPr>
        <p:spPr>
          <a:xfrm>
            <a:off x="8805672" y="5715000"/>
            <a:ext cx="2752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C1D2"/>
                </a:solidFill>
              </a:rPr>
              <a:t>esforço da equipe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10 · ENCAMINHAMENTOS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Da especificação à evidência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 que foi ajustado após o PC1 e o caminho até o julgamento na Entrega 2.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400800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Fontes: Relatório PC1, seções 1 e 3.1; Framework GQM, seções 5 e 6.</a:t>
            </a:r>
            <a:endParaRPr lang="en-US" sz="1000" dirty="0"/>
          </a:p>
        </p:txBody>
      </p:sp>
      <p:sp>
        <p:nvSpPr>
          <p:cNvPr id="6" name="page"/>
          <p:cNvSpPr txBox="1"/>
          <p:nvPr/>
        </p:nvSpPr>
        <p:spPr>
          <a:xfrm>
            <a:off x="10515600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 / 11</a:t>
            </a:r>
            <a:endParaRPr lang="en-US" sz="1000" dirty="0"/>
          </a:p>
        </p:txBody>
      </p:sp>
      <p:sp>
        <p:nvSpPr>
          <p:cNvPr id="7" name="stepn 1"/>
          <p:cNvSpPr/>
          <p:nvPr/>
        </p:nvSpPr>
        <p:spPr>
          <a:xfrm>
            <a:off x="54864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tepn 1 text"/>
          <p:cNvSpPr txBox="1"/>
          <p:nvPr/>
        </p:nvSpPr>
        <p:spPr>
          <a:xfrm>
            <a:off x="5486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conn 0"/>
          <p:cNvSpPr/>
          <p:nvPr/>
        </p:nvSpPr>
        <p:spPr>
          <a:xfrm>
            <a:off x="1325880" y="2194560"/>
            <a:ext cx="1901952" cy="0"/>
          </a:xfrm>
          <a:prstGeom prst="line">
            <a:avLst/>
          </a:prstGeom>
          <a:noFill/>
          <a:ln w="38100">
            <a:solidFill>
              <a:srgbClr val="D9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Ajustar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FEITO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Hipóteses em todas as questões, GQM em três níveis e indicadores PSM/CID.</a:t>
            </a:r>
            <a:endParaRPr lang="en-US" sz="1400" dirty="0"/>
          </a:p>
        </p:txBody>
      </p:sp>
      <p:sp>
        <p:nvSpPr>
          <p:cNvPr id="13" name="stepn 2"/>
          <p:cNvSpPr/>
          <p:nvPr/>
        </p:nvSpPr>
        <p:spPr>
          <a:xfrm>
            <a:off x="3364992" y="18745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n 2 text"/>
          <p:cNvSpPr txBox="1"/>
          <p:nvPr/>
        </p:nvSpPr>
        <p:spPr>
          <a:xfrm>
            <a:off x="3364992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conn 1"/>
          <p:cNvSpPr/>
          <p:nvPr/>
        </p:nvSpPr>
        <p:spPr>
          <a:xfrm>
            <a:off x="4142232" y="2194560"/>
            <a:ext cx="1901952" cy="0"/>
          </a:xfrm>
          <a:prstGeom prst="line">
            <a:avLst/>
          </a:prstGeom>
          <a:noFill/>
          <a:ln w="38100">
            <a:solidFill>
              <a:srgbClr val="D9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64992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Publicar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64992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ENTREGA 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64992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Release E1 apontando para a versão final da main.</a:t>
            </a:r>
            <a:endParaRPr lang="en-US" sz="1400" dirty="0"/>
          </a:p>
        </p:txBody>
      </p:sp>
      <p:sp>
        <p:nvSpPr>
          <p:cNvPr id="19" name="stepn 3"/>
          <p:cNvSpPr/>
          <p:nvPr/>
        </p:nvSpPr>
        <p:spPr>
          <a:xfrm>
            <a:off x="6181344" y="18745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stepn 3 text"/>
          <p:cNvSpPr txBox="1"/>
          <p:nvPr/>
        </p:nvSpPr>
        <p:spPr>
          <a:xfrm>
            <a:off x="6181344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conn 2"/>
          <p:cNvSpPr/>
          <p:nvPr/>
        </p:nvSpPr>
        <p:spPr>
          <a:xfrm>
            <a:off x="6958584" y="2194560"/>
            <a:ext cx="1901952" cy="0"/>
          </a:xfrm>
          <a:prstGeom prst="line">
            <a:avLst/>
          </a:prstGeom>
          <a:noFill/>
          <a:ln w="38100">
            <a:solidFill>
              <a:srgbClr val="D9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81344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Executar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181344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3"/>
                </a:solidFill>
              </a:rPr>
              <a:t>ENTREGA 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81344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Congelar manifestos, subir o Docker, medir M1 a M15 e rodar T1 e T2.</a:t>
            </a:r>
            <a:endParaRPr lang="en-US" sz="1400" dirty="0"/>
          </a:p>
        </p:txBody>
      </p:sp>
      <p:sp>
        <p:nvSpPr>
          <p:cNvPr id="25" name="stepn 4"/>
          <p:cNvSpPr/>
          <p:nvPr/>
        </p:nvSpPr>
        <p:spPr>
          <a:xfrm>
            <a:off x="8997696" y="18745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stepn 4 text"/>
          <p:cNvSpPr txBox="1"/>
          <p:nvPr/>
        </p:nvSpPr>
        <p:spPr>
          <a:xfrm>
            <a:off x="8997696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97696" y="26974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Julgar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997696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4"/>
                </a:solidFill>
              </a:rPr>
              <a:t>ENTREGA 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997696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Calcular IQC e IQM, classificar em A, B ou C e fechar o artigo v2.</a:t>
            </a:r>
            <a:endParaRPr lang="en-US" sz="1400" dirty="0"/>
          </a:p>
        </p:txBody>
      </p:sp>
      <p:sp>
        <p:nvSpPr>
          <p:cNvPr id="30" name="nao conhecido"/>
          <p:cNvSpPr/>
          <p:nvPr/>
        </p:nvSpPr>
        <p:spPr>
          <a:xfrm>
            <a:off x="548640" y="4572000"/>
            <a:ext cx="11018520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10243A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686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CCFCB"/>
                </a:solidFill>
              </a:rPr>
              <a:t>O QUE AINDA NÃO SABEMOS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" y="50749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Nenhum dado do i-Educar foi coletado ainda. Hipóteses, pesos e limiares são critérios de planejamento, não resultados.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5760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C1D2"/>
                </a:solidFill>
              </a:rPr>
              <a:t>Na Entrega 2: preservar as evidências, calcular IQC/IQM e emitir o parecer conforme os gates e os critérios definidos.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ce Hopper QS1">
  <a:themeElements>
    <a:clrScheme name="Grace Hopper QS1">
      <a:dk1>
        <a:srgbClr val="1E3348"/>
      </a:dk1>
      <a:lt1>
        <a:srgbClr val="FFFFFF"/>
      </a:lt1>
      <a:dk2>
        <a:srgbClr val="10243A"/>
      </a:dk2>
      <a:lt2>
        <a:srgbClr val="F4F7FA"/>
      </a:lt2>
      <a:accent1>
        <a:srgbClr val="00A6A6"/>
      </a:accent1>
      <a:accent2>
        <a:srgbClr val="3C78A8"/>
      </a:accent2>
      <a:accent3>
        <a:srgbClr val="E6A23C"/>
      </a:accent3>
      <a:accent4>
        <a:srgbClr val="D96C5F"/>
      </a:accent4>
      <a:accent5>
        <a:srgbClr val="597084"/>
      </a:accent5>
      <a:accent6>
        <a:srgbClr val="DDF5F1"/>
      </a:accent6>
      <a:hlink>
        <a:srgbClr val="3C78A8"/>
      </a:hlink>
      <a:folHlink>
        <a:srgbClr val="597084"/>
      </a:folHlink>
    </a:clrScheme>
    <a:fontScheme name="Grace Hopper QS1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UnB — FGA0315 Qualidade de Software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Avaliação da Qualidade do i-Educar — Ponto de Controle 1</dc:title>
  <dc:subject>PptxGenJS Presentation</dc:subject>
  <dc:creator>Equipe Grace Hopper</dc:creator>
  <cp:lastModifiedBy>Equipe Grace Hopper</cp:lastModifiedBy>
  <cp:revision>1</cp:revision>
  <dcterms:created xsi:type="dcterms:W3CDTF">2026-10-27T23:23:46Z</dcterms:created>
  <dcterms:modified xsi:type="dcterms:W3CDTF">2026-10-27T23:23:46Z</dcterms:modified>
</cp:coreProperties>
</file>